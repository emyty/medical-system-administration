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4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60" r:id="rId3"/>
    <p:sldId id="258" r:id="rId4"/>
    <p:sldId id="262" r:id="rId5"/>
    <p:sldId id="261" r:id="rId6"/>
    <p:sldId id="296" r:id="rId7"/>
    <p:sldId id="297" r:id="rId8"/>
    <p:sldId id="272" r:id="rId9"/>
    <p:sldId id="267" r:id="rId10"/>
    <p:sldId id="298" r:id="rId11"/>
  </p:sldIdLst>
  <p:sldSz cx="9144000" cy="5143500" type="screen16x9"/>
  <p:notesSz cx="6858000" cy="9144000"/>
  <p:embeddedFontLst>
    <p:embeddedFont>
      <p:font typeface="Arimo" panose="020B0604020202020204" charset="0"/>
      <p:regular r:id="rId13"/>
      <p:bold r:id="rId14"/>
      <p:italic r:id="rId15"/>
      <p:boldItalic r:id="rId16"/>
    </p:embeddedFont>
    <p:embeddedFont>
      <p:font typeface="DM Serif Text" pitchFamily="2" charset="0"/>
      <p:regular r:id="rId17"/>
      <p: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3B46672-65B8-60E2-949F-81A015A2C45B}" name="Emine Yumer" initials="EY" userId="4db7462f925882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D93BDE-0D70-49C6-B7B4-874267DEE565}">
  <a:tblStyle styleId="{BED93BDE-0D70-49C6-B7B4-874267DEE5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9327E6-810B-439F-A182-984EFC2D38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8/10/relationships/authors" Target="authors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C63EE8-E6AE-483F-B5F0-BE7B2F780C49}" authorId="{B3B46672-65B8-60E2-949F-81A015A2C45B}" created="2026-04-02T16:27:12.7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380" creationId="{00000000-0000-0000-0000-000000000000}"/>
    </ac:deMkLst>
    <p188:txBody>
      <a:bodyPr/>
      <a:lstStyle/>
      <a:p>
        <a:r>
          <a:rPr lang="bg-BG"/>
          <a:t>Health Pro е самостоятелна система, която цели да замени хартиената документация и да ускори работата на медицинския персонал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7549fe154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7549fe154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F7EB8E7F-DE79-4CB1-03DD-7B5557C3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58269c9b_0_103:notes">
            <a:extLst>
              <a:ext uri="{FF2B5EF4-FFF2-40B4-BE49-F238E27FC236}">
                <a16:creationId xmlns:a16="http://schemas.microsoft.com/office/drawing/2014/main" id="{385E22E3-4655-6B41-EF9E-D02B15D64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1258269c9b_0_103:notes">
            <a:extLst>
              <a:ext uri="{FF2B5EF4-FFF2-40B4-BE49-F238E27FC236}">
                <a16:creationId xmlns:a16="http://schemas.microsoft.com/office/drawing/2014/main" id="{79D6F684-FB3E-732C-DF42-7DCDF2AD9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189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6AC6072B-CCEA-9C0F-36C4-1F7D5B59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58269c9b_0_103:notes">
            <a:extLst>
              <a:ext uri="{FF2B5EF4-FFF2-40B4-BE49-F238E27FC236}">
                <a16:creationId xmlns:a16="http://schemas.microsoft.com/office/drawing/2014/main" id="{E889FA36-1E26-DEB4-4D8C-A66F8D508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1258269c9b_0_103:notes">
            <a:extLst>
              <a:ext uri="{FF2B5EF4-FFF2-40B4-BE49-F238E27FC236}">
                <a16:creationId xmlns:a16="http://schemas.microsoft.com/office/drawing/2014/main" id="{DDC5664E-96D4-CE6E-B440-A7D6048C7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2110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330b26925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330b26925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1258269c9b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1258269c9b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82707739-B184-D478-6922-EC03063B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1e7c571f2_0_0:notes">
            <a:extLst>
              <a:ext uri="{FF2B5EF4-FFF2-40B4-BE49-F238E27FC236}">
                <a16:creationId xmlns:a16="http://schemas.microsoft.com/office/drawing/2014/main" id="{D2222482-70FA-8DF9-A5FA-7BF0304D0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1e7c571f2_0_0:notes">
            <a:extLst>
              <a:ext uri="{FF2B5EF4-FFF2-40B4-BE49-F238E27FC236}">
                <a16:creationId xmlns:a16="http://schemas.microsoft.com/office/drawing/2014/main" id="{A5EF71D2-284D-10D5-8D1B-6AB65C8A6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113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4923250" y="2421751"/>
            <a:ext cx="25056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1715375" y="2421750"/>
            <a:ext cx="25056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1715375" y="17718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4923250" y="17719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5304925" y="681375"/>
            <a:ext cx="3123900" cy="3780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4374925" y="4740200"/>
            <a:ext cx="394125" cy="2718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6303" y="-673"/>
            <a:ext cx="9170700" cy="5161600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720000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3419275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6118550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720000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3419275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5"/>
          </p:nvPr>
        </p:nvSpPr>
        <p:spPr>
          <a:xfrm>
            <a:off x="6118550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887950" y="1339775"/>
            <a:ext cx="3309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1"/>
          </p:nvPr>
        </p:nvSpPr>
        <p:spPr>
          <a:xfrm>
            <a:off x="887950" y="2799325"/>
            <a:ext cx="3309900" cy="10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6"/>
          <p:cNvSpPr>
            <a:spLocks noGrp="1"/>
          </p:cNvSpPr>
          <p:nvPr>
            <p:ph type="pic" idx="2"/>
          </p:nvPr>
        </p:nvSpPr>
        <p:spPr>
          <a:xfrm>
            <a:off x="5005812" y="820425"/>
            <a:ext cx="3250200" cy="350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6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343050" y="-14925"/>
            <a:ext cx="0" cy="5158500"/>
            <a:chOff x="343050" y="-14925"/>
            <a:chExt cx="0" cy="5158500"/>
          </a:xfrm>
        </p:grpSpPr>
        <p:cxnSp>
          <p:nvCxnSpPr>
            <p:cNvPr id="184" name="Google Shape;184;p1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6" name="Google Shape;186;p16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187" name="Google Shape;187;p1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subTitle" idx="1"/>
          </p:nvPr>
        </p:nvSpPr>
        <p:spPr>
          <a:xfrm>
            <a:off x="715100" y="113755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2"/>
          </p:nvPr>
        </p:nvSpPr>
        <p:spPr>
          <a:xfrm>
            <a:off x="715100" y="2135050"/>
            <a:ext cx="77040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3"/>
          </p:nvPr>
        </p:nvSpPr>
        <p:spPr>
          <a:xfrm>
            <a:off x="715100" y="361116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209" name="Google Shape;209;p1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212" name="Google Shape;212;p18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18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1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2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3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4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5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6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2" r:id="rId9"/>
    <p:sldLayoutId id="2147483664" r:id="rId10"/>
    <p:sldLayoutId id="2147483665" r:id="rId11"/>
    <p:sldLayoutId id="2147483671" r:id="rId12"/>
    <p:sldLayoutId id="214748367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0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30"/>
          <p:cNvSpPr txBox="1">
            <a:spLocks noGrp="1"/>
          </p:cNvSpPr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Система за управление на болница </a:t>
            </a:r>
            <a:r>
              <a:rPr lang="en-US"/>
              <a:t>“Health Pro”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1"/>
          </p:nvPr>
        </p:nvSpPr>
        <p:spPr>
          <a:xfrm>
            <a:off x="4258491" y="3721563"/>
            <a:ext cx="4170309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/>
              <a:t>Изготвено от Емине Юмер и София Иванова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 txBox="1">
            <a:spLocks noGrp="1"/>
          </p:cNvSpPr>
          <p:nvPr>
            <p:ph type="title"/>
          </p:nvPr>
        </p:nvSpPr>
        <p:spPr>
          <a:xfrm>
            <a:off x="720000" y="10428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b="1"/>
              <a:t>Същност, цели и обхват на проекта</a:t>
            </a:r>
            <a:endParaRPr b="1"/>
          </a:p>
        </p:txBody>
      </p:sp>
      <p:sp>
        <p:nvSpPr>
          <p:cNvPr id="380" name="Google Shape;380;p34"/>
          <p:cNvSpPr txBox="1">
            <a:spLocks noGrp="1"/>
          </p:cNvSpPr>
          <p:nvPr>
            <p:ph type="body" idx="1"/>
          </p:nvPr>
        </p:nvSpPr>
        <p:spPr>
          <a:xfrm>
            <a:off x="720000" y="1615500"/>
            <a:ext cx="3852000" cy="2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/>
              <a:t>Софтуерният продукт </a:t>
            </a:r>
            <a:r>
              <a:rPr lang="en-US" b="1"/>
              <a:t>Health Pro</a:t>
            </a:r>
            <a:r>
              <a:rPr lang="en-US"/>
              <a:t> е самостоятелна уеб-базирана система за управление на болница.</a:t>
            </a:r>
            <a:endParaRPr lang="bg-BG"/>
          </a:p>
          <a:p>
            <a:pPr marL="0" lvl="0" indent="0">
              <a:buNone/>
            </a:pPr>
            <a:endParaRPr lang="ru-RU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chemeClr val="dk1"/>
                </a:solidFill>
              </a:rPr>
              <a:t>Цел на проекта: </a:t>
            </a:r>
            <a:r>
              <a:rPr lang="ru-RU">
                <a:solidFill>
                  <a:schemeClr val="dk1"/>
                </a:solidFill>
              </a:rPr>
              <a:t>Дигитализация на основните процеси в средна болница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chemeClr val="dk1"/>
                </a:solidFill>
              </a:rPr>
              <a:t>Обхват:</a:t>
            </a:r>
            <a:r>
              <a:rPr lang="ru-RU">
                <a:solidFill>
                  <a:schemeClr val="dk1"/>
                </a:solidFill>
              </a:rPr>
              <a:t> Регистрация на пациенти, пациентск</a:t>
            </a:r>
            <a:r>
              <a:rPr lang="bg-BG"/>
              <a:t>о досие</a:t>
            </a:r>
            <a:r>
              <a:rPr lang="ru-RU">
                <a:solidFill>
                  <a:schemeClr val="dk1"/>
                </a:solidFill>
              </a:rPr>
              <a:t>, жизнени показатели, прегледи и записани часове</a:t>
            </a:r>
            <a:endParaRPr lang="en-US">
              <a:solidFill>
                <a:schemeClr val="dk1"/>
              </a:solidFill>
            </a:endParaRPr>
          </a:p>
        </p:txBody>
      </p:sp>
      <p:pic>
        <p:nvPicPr>
          <p:cNvPr id="8" name="Контейнер за картина 7">
            <a:extLst>
              <a:ext uri="{FF2B5EF4-FFF2-40B4-BE49-F238E27FC236}">
                <a16:creationId xmlns:a16="http://schemas.microsoft.com/office/drawing/2014/main" id="{30A558E2-DD8D-9EE9-82C3-7DDA39FFA4C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l="19033" r="19033"/>
          <a:stretch>
            <a:fillRect/>
          </a:stretch>
        </p:blipFill>
        <p:spPr>
          <a:xfrm>
            <a:off x="5089388" y="570340"/>
            <a:ext cx="3123900" cy="37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/>
              <a:t>Ползи и предимства</a:t>
            </a:r>
            <a:endParaRPr b="1"/>
          </a:p>
        </p:txBody>
      </p:sp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xfrm>
            <a:off x="720000" y="1492392"/>
            <a:ext cx="2305550" cy="12475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/>
              <a:t>Намаляване на хартиената документация с над 60%</a:t>
            </a:r>
            <a:endParaRPr lang="ru-RU">
              <a:effectLst/>
            </a:endParaRPr>
          </a:p>
        </p:txBody>
      </p:sp>
      <p:sp>
        <p:nvSpPr>
          <p:cNvPr id="363" name="Google Shape;363;p32"/>
          <p:cNvSpPr txBox="1">
            <a:spLocks noGrp="1"/>
          </p:cNvSpPr>
          <p:nvPr>
            <p:ph type="subTitle" idx="8"/>
          </p:nvPr>
        </p:nvSpPr>
        <p:spPr>
          <a:xfrm>
            <a:off x="3419250" y="1485168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/>
              <a:t>Ускоряване на достъпа до пациентска информация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2"/>
          <p:cNvSpPr txBox="1">
            <a:spLocks noGrp="1"/>
          </p:cNvSpPr>
          <p:nvPr>
            <p:ph type="subTitle" idx="9"/>
          </p:nvPr>
        </p:nvSpPr>
        <p:spPr>
          <a:xfrm>
            <a:off x="5527900" y="1492392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/>
              <a:t>Значително намаляване на медицински грешки</a:t>
            </a:r>
            <a:endParaRPr lang="ru-RU">
              <a:effectLst/>
            </a:endParaRPr>
          </a:p>
        </p:txBody>
      </p:sp>
      <p:sp>
        <p:nvSpPr>
          <p:cNvPr id="365" name="Google Shape;365;p32"/>
          <p:cNvSpPr txBox="1">
            <a:spLocks noGrp="1"/>
          </p:cNvSpPr>
          <p:nvPr>
            <p:ph type="subTitle" idx="13"/>
          </p:nvPr>
        </p:nvSpPr>
        <p:spPr>
          <a:xfrm>
            <a:off x="1536864" y="337635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/>
              <a:t>Удобен интерфейс за лекари, сестри и пациенти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2"/>
          <p:cNvSpPr txBox="1">
            <a:spLocks noGrp="1"/>
          </p:cNvSpPr>
          <p:nvPr>
            <p:ph type="subTitle" idx="15"/>
          </p:nvPr>
        </p:nvSpPr>
        <p:spPr>
          <a:xfrm>
            <a:off x="4693920" y="3376353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bg-BG"/>
              <a:t>По-добра координация между екипите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720000" y="4937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bg-BG" b="1"/>
              <a:t>Основни изисквания</a:t>
            </a:r>
            <a:endParaRPr lang="bg-BG" b="1">
              <a:effectLst/>
            </a:endParaRPr>
          </a:p>
        </p:txBody>
      </p:sp>
      <p:sp>
        <p:nvSpPr>
          <p:cNvPr id="396" name="Google Shape;396;p36"/>
          <p:cNvSpPr txBox="1">
            <a:spLocks noGrp="1"/>
          </p:cNvSpPr>
          <p:nvPr>
            <p:ph type="subTitle" idx="4"/>
          </p:nvPr>
        </p:nvSpPr>
        <p:spPr>
          <a:xfrm>
            <a:off x="1442144" y="1428714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bg-BG" b="1"/>
              <a:t>Функционални изисквания</a:t>
            </a:r>
          </a:p>
        </p:txBody>
      </p:sp>
      <p:sp>
        <p:nvSpPr>
          <p:cNvPr id="400" name="Google Shape;400;p36"/>
          <p:cNvSpPr txBox="1">
            <a:spLocks noGrp="1"/>
          </p:cNvSpPr>
          <p:nvPr>
            <p:ph type="subTitle" idx="3"/>
          </p:nvPr>
        </p:nvSpPr>
        <p:spPr>
          <a:xfrm>
            <a:off x="5266944" y="1802309"/>
            <a:ext cx="3053117" cy="2769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bg-BG" altLang="bg-BG" sz="1500">
                <a:solidFill>
                  <a:schemeClr val="tx1"/>
                </a:solidFill>
                <a:latin typeface="Arial" panose="020B0604020202020204" pitchFamily="34" charset="0"/>
              </a:rPr>
              <a:t>Сигурност - </a:t>
            </a:r>
            <a:r>
              <a:rPr lang="ru-RU" altLang="bg-BG" sz="1500">
                <a:solidFill>
                  <a:schemeClr val="tx1"/>
                </a:solidFill>
                <a:latin typeface="Arial" panose="020B0604020202020204" pitchFamily="34" charset="0"/>
              </a:rPr>
              <a:t>з</a:t>
            </a:r>
            <a:r>
              <a:rPr lang="ru-RU" sz="1500"/>
              <a:t>ащита на личните данни, ролеви достъп, HTTPS</a:t>
            </a:r>
            <a:endParaRPr lang="bg-BG" altLang="bg-BG" sz="15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bg-BG" altLang="bg-BG" sz="1500">
                <a:solidFill>
                  <a:schemeClr val="tx1"/>
                </a:solidFill>
                <a:latin typeface="Arial" panose="020B0604020202020204" pitchFamily="34" charset="0"/>
              </a:rPr>
              <a:t>Използваемост - </a:t>
            </a:r>
            <a:r>
              <a:rPr lang="bg-BG" sz="1500"/>
              <a:t>Интуитивен интерфейс</a:t>
            </a:r>
            <a:r>
              <a:rPr lang="bg-BG" altLang="bg-BG" sz="15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bg-BG" altLang="bg-BG" sz="1500">
                <a:solidFill>
                  <a:schemeClr val="tx1"/>
                </a:solidFill>
                <a:latin typeface="Arial" panose="020B0604020202020204" pitchFamily="34" charset="0"/>
              </a:rPr>
              <a:t>Производителност - т</a:t>
            </a:r>
            <a:r>
              <a:rPr lang="ru-RU" sz="1500"/>
              <a:t>ърсене на пациент &lt; 1 секунда, поддръжка на 150+ потребителя едновременно</a:t>
            </a:r>
            <a:endParaRPr lang="bg-BG" altLang="bg-BG" sz="15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bg-BG" altLang="bg-BG" sz="1500">
                <a:solidFill>
                  <a:schemeClr val="tx1"/>
                </a:solidFill>
                <a:latin typeface="Arial" panose="020B0604020202020204" pitchFamily="34" charset="0"/>
              </a:rPr>
              <a:t>Надеждност - </a:t>
            </a:r>
            <a:r>
              <a:rPr lang="en-US" sz="1500"/>
              <a:t>99,5% uptime, </a:t>
            </a:r>
            <a:r>
              <a:rPr lang="bg-BG" sz="1500"/>
              <a:t>ежедневен бекъп</a:t>
            </a:r>
          </a:p>
        </p:txBody>
      </p:sp>
      <p:sp>
        <p:nvSpPr>
          <p:cNvPr id="401" name="Google Shape;401;p36"/>
          <p:cNvSpPr txBox="1">
            <a:spLocks noGrp="1"/>
          </p:cNvSpPr>
          <p:nvPr>
            <p:ph type="subTitle" idx="6"/>
          </p:nvPr>
        </p:nvSpPr>
        <p:spPr>
          <a:xfrm>
            <a:off x="5364506" y="1384354"/>
            <a:ext cx="233735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bg-BG" b="1"/>
              <a:t>Нефункционални изисквания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91E27E-A9F4-7C3F-92E7-89D5CF5CC4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23939" y="1763620"/>
            <a:ext cx="3479863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Регистрация и търсене на пациенти по ЕГН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Електронна пациентска карта и история на прегледите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Въвеждане и визуализация на жизнени показатели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Записване и управление на часове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Лекарски прегледи с ICD-10 диагнози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Генериране на PDF документи (амбулаторен лист)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Product Backlog</a:t>
            </a:r>
            <a:br>
              <a:rPr lang="en-US"/>
            </a:br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subTitle" idx="3"/>
          </p:nvPr>
        </p:nvSpPr>
        <p:spPr>
          <a:xfrm>
            <a:off x="720000" y="932381"/>
            <a:ext cx="5502289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bg-BG" sz="1600"/>
              <a:t>Дефинирахме 14 истории, разделени на 2 спринта</a:t>
            </a:r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A4493C84-949A-C31C-3250-DA62F757A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93" y="1505081"/>
            <a:ext cx="7875360" cy="2956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BD3D7B42-9D88-7A3D-002A-6574DD45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>
            <a:extLst>
              <a:ext uri="{FF2B5EF4-FFF2-40B4-BE49-F238E27FC236}">
                <a16:creationId xmlns:a16="http://schemas.microsoft.com/office/drawing/2014/main" id="{B2A67AB9-3B72-2D6B-BC24-BFCFA149D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bg-BG" b="1"/>
              <a:t>Спринтов списък</a:t>
            </a:r>
            <a:br>
              <a:rPr lang="en-US"/>
            </a:br>
            <a:endParaRPr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202F700E-DCC9-6DB6-AB79-8F5719F0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70" y="1127453"/>
            <a:ext cx="7839626" cy="371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5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5B5E2646-E731-2125-D607-CAF990ED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261D2C47-AD15-BEB5-174C-733C66BF4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3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 txBox="1">
            <a:spLocks noGrp="1"/>
          </p:cNvSpPr>
          <p:nvPr>
            <p:ph type="title"/>
          </p:nvPr>
        </p:nvSpPr>
        <p:spPr>
          <a:xfrm>
            <a:off x="318524" y="445025"/>
            <a:ext cx="81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/>
              <a:t>Анализ по изпълнението на първия спринт</a:t>
            </a:r>
            <a:endParaRPr b="1"/>
          </a:p>
        </p:txBody>
      </p:sp>
      <p:sp>
        <p:nvSpPr>
          <p:cNvPr id="526" name="Google Shape;526;p46"/>
          <p:cNvSpPr txBox="1">
            <a:spLocks noGrp="1"/>
          </p:cNvSpPr>
          <p:nvPr>
            <p:ph type="subTitle" idx="1"/>
          </p:nvPr>
        </p:nvSpPr>
        <p:spPr>
          <a:xfrm>
            <a:off x="438912" y="634428"/>
            <a:ext cx="7704000" cy="21066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g-BG" b="1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bg-BG" sz="1400"/>
              <a:t>Завършени 52 </a:t>
            </a:r>
            <a:r>
              <a:rPr lang="en-US" sz="1400"/>
              <a:t>Story Points </a:t>
            </a:r>
            <a:r>
              <a:rPr lang="bg-BG" sz="1400"/>
              <a:t>за седмица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bg-BG" sz="1400"/>
              <a:t>Успешна координация между екипа</a:t>
            </a:r>
          </a:p>
          <a:p>
            <a:pPr>
              <a:spcBef>
                <a:spcPts val="1000"/>
              </a:spcBef>
            </a:pPr>
            <a:r>
              <a:rPr lang="bg-BG" sz="1400"/>
              <a:t>Предизвикателсво – История № 4(</a:t>
            </a:r>
            <a:r>
              <a:rPr lang="ru-RU" sz="1400"/>
              <a:t>валидации и интеграция с графика)</a:t>
            </a:r>
          </a:p>
          <a:p>
            <a:pPr>
              <a:spcBef>
                <a:spcPts val="1000"/>
              </a:spcBef>
            </a:pPr>
            <a:r>
              <a:rPr lang="ru-RU" sz="1400"/>
              <a:t>Burnup Chart показва стабилен и равномерен напредък</a:t>
            </a:r>
          </a:p>
          <a:p>
            <a:pPr>
              <a:spcBef>
                <a:spcPts val="1000"/>
              </a:spcBef>
            </a:pPr>
            <a:r>
              <a:rPr lang="ru-RU" sz="1400"/>
              <a:t>Всички задачи от Sprint 1 са завършени с нулеви оставащи часове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endParaRPr lang="bg-BG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endParaRPr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922524EB-43BA-9907-BC2C-2AB2526D2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8" y="2850833"/>
            <a:ext cx="5143492" cy="21066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41"/>
          <p:cNvCxnSpPr/>
          <p:nvPr/>
        </p:nvCxnSpPr>
        <p:spPr>
          <a:xfrm>
            <a:off x="0" y="2591375"/>
            <a:ext cx="915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4" name="Google Shape;454;p41"/>
          <p:cNvSpPr txBox="1">
            <a:spLocks noGrp="1"/>
          </p:cNvSpPr>
          <p:nvPr>
            <p:ph type="title"/>
          </p:nvPr>
        </p:nvSpPr>
        <p:spPr>
          <a:xfrm>
            <a:off x="887950" y="1339775"/>
            <a:ext cx="3309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bg-BG" b="1"/>
              <a:t>Заключение</a:t>
            </a:r>
            <a:endParaRPr lang="bg-BG" b="1">
              <a:effectLst/>
            </a:endParaRPr>
          </a:p>
        </p:txBody>
      </p:sp>
      <p:sp>
        <p:nvSpPr>
          <p:cNvPr id="456" name="Google Shape;456;p41"/>
          <p:cNvSpPr txBox="1">
            <a:spLocks noGrp="1"/>
          </p:cNvSpPr>
          <p:nvPr>
            <p:ph type="subTitle" idx="1"/>
          </p:nvPr>
        </p:nvSpPr>
        <p:spPr>
          <a:xfrm>
            <a:off x="887950" y="2743776"/>
            <a:ext cx="3309900" cy="10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500"/>
              <a:t>Успешно завършен Sprint 1 с 52 SP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500"/>
              <a:t>Sprint 2 е стартиран и в процес на изпълнение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500"/>
              <a:t>Проектът допринася за дигитализацията на болничните процеси</a:t>
            </a:r>
            <a:endParaRPr sz="150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12864FE1-9AEB-3000-29C2-05143CA4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832" y="1110047"/>
            <a:ext cx="5925312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3EABDDD5-5173-67BF-623B-1F481BFE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>
            <a:extLst>
              <a:ext uri="{FF2B5EF4-FFF2-40B4-BE49-F238E27FC236}">
                <a16:creationId xmlns:a16="http://schemas.microsoft.com/office/drawing/2014/main" id="{C270B62F-CBB2-512C-A9BB-938618FC0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592" y="1359792"/>
            <a:ext cx="809481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bg-BG" sz="4800" b="1"/>
              <a:t>Благодарим Ви</a:t>
            </a:r>
            <a:br>
              <a:rPr lang="bg-BG" sz="4800" b="1"/>
            </a:br>
            <a:r>
              <a:rPr lang="bg-BG" sz="4800" b="1"/>
              <a:t>за вниманието!</a:t>
            </a:r>
            <a:endParaRPr sz="4800" b="1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6635EAB4-6AC5-2556-69A0-45E0C346D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125" y="1646142"/>
            <a:ext cx="5317427" cy="27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8866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271</Words>
  <Application>Microsoft Office PowerPoint</Application>
  <PresentationFormat>Презентация на цял екран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5" baseType="lpstr">
      <vt:lpstr>Arimo</vt:lpstr>
      <vt:lpstr>Arial</vt:lpstr>
      <vt:lpstr>DM Serif Text</vt:lpstr>
      <vt:lpstr>Raleway</vt:lpstr>
      <vt:lpstr>Elegant and Clean Case Report by Slidesgo</vt:lpstr>
      <vt:lpstr>Система за управление на болница “Health Pro”</vt:lpstr>
      <vt:lpstr>Същност, цели и обхват на проекта</vt:lpstr>
      <vt:lpstr>Ползи и предимства</vt:lpstr>
      <vt:lpstr>Основни изисквания</vt:lpstr>
      <vt:lpstr>Product Backlog </vt:lpstr>
      <vt:lpstr>Спринтов списък </vt:lpstr>
      <vt:lpstr>Презентация на PowerPoint</vt:lpstr>
      <vt:lpstr>Анализ по изпълнението на първия спринт</vt:lpstr>
      <vt:lpstr>Заключение</vt:lpstr>
      <vt:lpstr>Благодарим Ви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Emine Yumer</dc:creator>
  <cp:lastModifiedBy>Emine Yumer</cp:lastModifiedBy>
  <cp:revision>2</cp:revision>
  <dcterms:modified xsi:type="dcterms:W3CDTF">2026-04-02T18:26:17Z</dcterms:modified>
</cp:coreProperties>
</file>